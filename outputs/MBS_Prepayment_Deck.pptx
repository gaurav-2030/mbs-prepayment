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team (Section B, problem 55) and that we follow the Guo/Boccio/Cameron study.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Prepayment cuts MBS investor returns. Industry uses pool-level models; we do loan-level classification.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Freddie Mac SF loan-level data: origination + monthly performance merged on loan id. Label from zero-balance code 01.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each step exists: 30-year filter (code 01 also means matured), start-of-month balance (UPB is 0 in the payoff month), split by loan (no loan in two splits). Tests in tests/ check every one of these.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each briefly; note SVM subset and NN oversampling.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synthetic-data results - replace by re-running on Freddie Mac. Accuracy alone is misleading at this imbalance.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precision vs recall trade-off.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Rate incentive is the main driver; accuracy is misleading; leakage caveat.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EDA: notebooks/eda.ipynb. Tuning: python -m src.tune - each value is chosen on the validation split, then scored once on test.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Run: python -m src.demo --random 6 ; then a custom loan with --loan.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limitations and next steps. The matrix shows the best model (Logistic (L1)) on the test set: it catches 182 of 593 prepayments.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18872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Mortgage-Backed Securities Prepayment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2860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BEE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Machine Learning Methods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56616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UE24CS352A Machine Learning - Mini-Project  |  Section B  |  Problem #55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Bhoomika Kshatriya (PES1UG24AM068)   |   Gaurav Girish (PES1UG24AM103)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will this loan prepay this month?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MBS investors receive interest + principal from a pool of home loans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Prepayment = borrower repays early -&gt; interest stops -&gt; lower returns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Industry: pool-level statistical models with hand-picked factors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Ours: loan-level binary classification (1 = prepaid this month)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Logistic, SVM, GDA and a Neural Network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and features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005840"/>
            <a:ext cx="49377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Freddie Mac Single-Family Loan-Level data: ~45.5M loans, 1999-2020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Origination (static): credit score, DTI, LTV, rate, UPB, occupancy, purpose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(monthly): current UPB, loan age, rate, zero-balance code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Macro: mortgage rate, house-price change, unemployment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= 1 if zero-balance code 01 (voluntary payoff)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760720" y="1097280"/>
            <a:ext cx="2926080" cy="1051560"/>
          </a:xfrm>
          <a:prstGeom prst="roundRect">
            <a:avLst>
              <a:gd name="adj" fmla="val 8696"/>
            </a:avLst>
          </a:prstGeom>
          <a:solidFill>
            <a:srgbClr val="EDF2F7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760720" y="1170432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200,911</a:t>
            </a:r>
            <a:endParaRPr lang="en-US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5760720" y="175564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loan-month rows (synthetic)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760720" y="2331720"/>
            <a:ext cx="2926080" cy="1051560"/>
          </a:xfrm>
          <a:prstGeom prst="roundRect">
            <a:avLst>
              <a:gd name="adj" fmla="val 8696"/>
            </a:avLst>
          </a:prstGeom>
          <a:solidFill>
            <a:srgbClr val="EDF2F7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760720" y="2404872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1:67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5760720" y="299008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760720" y="3566160"/>
            <a:ext cx="2926080" cy="1051560"/>
          </a:xfrm>
          <a:prstGeom prst="roundRect">
            <a:avLst>
              <a:gd name="adj" fmla="val 8696"/>
            </a:avLst>
          </a:prstGeom>
          <a:solidFill>
            <a:srgbClr val="EDF2F7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760720" y="3639312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2800" dirty="0"/>
          </a:p>
        </p:txBody>
      </p:sp>
      <p:sp>
        <p:nvSpPr>
          <p:cNvPr id="14" name="Text 11"/>
          <p:cNvSpPr txBox="1"/>
          <p:nvPr/>
        </p:nvSpPr>
        <p:spPr>
          <a:xfrm>
            <a:off x="5760720" y="422452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after encoding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pipeline: leakage-safe and tested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005840"/>
            <a:ext cx="51206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origination + monthly performance files on loan id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30-year loans: code 01 means prepaid OR matured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 fix: balance is 0 in the payoff month, so we use the start-of-month balance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60/20/20 by loan: no loan appears in two splits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features from FRED (src/macro.py): 30-yr mortgage rate, FHFA house prices, BLS unemployment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codes 999 / 9999 -&gt; median; categoricals one-hot encoded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760720" y="1097280"/>
            <a:ext cx="2926080" cy="1051560"/>
          </a:xfrm>
          <a:prstGeom prst="roundRect">
            <a:avLst>
              <a:gd name="adj" fmla="val 8696"/>
            </a:avLst>
          </a:prstGeom>
          <a:solidFill>
            <a:srgbClr val="EDF2F7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760720" y="1170432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/ 20 / 20</a:t>
            </a:r>
            <a:endParaRPr lang="en-US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5760720" y="175564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val / test, grouped by loan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760720" y="2331720"/>
            <a:ext cx="2926080" cy="1051560"/>
          </a:xfrm>
          <a:prstGeom prst="roundRect">
            <a:avLst>
              <a:gd name="adj" fmla="val 8696"/>
            </a:avLst>
          </a:prstGeom>
          <a:solidFill>
            <a:srgbClr val="EDF2F7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760720" y="2404872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5760720" y="299008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(python -m pytest)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760720" y="3566160"/>
            <a:ext cx="2926080" cy="1051560"/>
          </a:xfrm>
          <a:prstGeom prst="roundRect">
            <a:avLst>
              <a:gd name="adj" fmla="val 8696"/>
            </a:avLst>
          </a:prstGeom>
          <a:solidFill>
            <a:srgbClr val="EDF2F7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760720" y="3639312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4" name="Text 11"/>
          <p:cNvSpPr txBox="1"/>
          <p:nvPr/>
        </p:nvSpPr>
        <p:spPr>
          <a:xfrm>
            <a:off x="5760720" y="422452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macro series joined by month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Approach: four model families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3931920" cy="1508760"/>
          </a:xfrm>
          <a:prstGeom prst="roundRect">
            <a:avLst>
              <a:gd name="adj" fmla="val 6061"/>
            </a:avLst>
          </a:prstGeom>
          <a:solidFill>
            <a:srgbClr val="EDF2F7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1430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64592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Baseline, L1 (selection), L2 (multicollinearity)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663440" y="1051560"/>
            <a:ext cx="3931920" cy="1508760"/>
          </a:xfrm>
          <a:prstGeom prst="roundRect">
            <a:avLst>
              <a:gd name="adj" fmla="val 6061"/>
            </a:avLst>
          </a:prstGeom>
          <a:solidFill>
            <a:srgbClr val="EDF2F7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846320" y="11430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4846320" y="164592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 / RBF / sigmoid kernels on a training subset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57200" y="2743200"/>
            <a:ext cx="3931920" cy="1508760"/>
          </a:xfrm>
          <a:prstGeom prst="roundRect">
            <a:avLst>
              <a:gd name="adj" fmla="val 6061"/>
            </a:avLst>
          </a:prstGeom>
          <a:solidFill>
            <a:srgbClr val="EDF2F7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28346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GDA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" y="333756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(shared cov.) vs Quadratic (per-class cov.)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663440" y="2743200"/>
            <a:ext cx="3931920" cy="1508760"/>
          </a:xfrm>
          <a:prstGeom prst="roundRect">
            <a:avLst>
              <a:gd name="adj" fmla="val 6061"/>
            </a:avLst>
          </a:prstGeom>
          <a:solidFill>
            <a:srgbClr val="EDF2F7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846320" y="28346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4846320" y="333756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128-256-128, ReLU, Adam; positives oversampled 10x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60/20/20 grouped by loan  |  threshold tuned on validation (max F1)  |  PR-AUC for imbalance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F1 and PR-AUC on the test set</a:t>
            </a:r>
            <a:endParaRPr lang="en-US" sz="2600" dirty="0"/>
          </a:p>
        </p:txBody>
      </p:sp>
      <p:pic>
        <p:nvPicPr>
          <p:cNvPr id="5" name="Image 0" descr="outputs/metrics_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14400"/>
            <a:ext cx="8412480" cy="356616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data. Best PR-AUC: Logistic (L1) (0.084); best F1: GDA (Linear) (0.141)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metrics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914400"/>
                <a:gridCol w="914400"/>
                <a:gridCol w="914400"/>
                <a:gridCol w="822960"/>
                <a:gridCol w="1097280"/>
                <a:gridCol w="118872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PR-AUC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(baseline)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0.9406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(L1)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(L2)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GDA (Linear)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GDA (Quadratic)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 (Poly)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0.8751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 (RBF)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 (Sigmoid)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Neural Network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0.9467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051560"/>
            <a:ext cx="47548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L1-logistic feature: rate incentive - borrowers refinance when market rates fall below their rate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hides failure: predicting 'never prepay' already scores 98.5% at 1:67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Regularisation barely moves logistic performance, but L1 prunes features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SVMs limited to a subset; NN needs positive reweighting to detect prepayments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 fix: UPB is 0 in the payoff month, so we use start-of-month balance</a:t>
            </a:r>
            <a:endParaRPr lang="en-US" sz="1500" dirty="0"/>
          </a:p>
        </p:txBody>
      </p:sp>
      <p:pic>
        <p:nvPicPr>
          <p:cNvPr id="6" name="Image 0" descr="outputs/feature_import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188720"/>
            <a:ext cx="3566160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and hyper-parameter tuning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960120"/>
            <a:ext cx="822960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EDA: the refinancing incentive is the dominant, monotone driver; loan age rises then falls (seasoning, then burnout)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Near-duplicate features (loan age vs months to maturity, r = -1) make QDA's covariance matrices singular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QDA reg_param 0.1 -&gt; 0.6 (chosen on validation): test PR-AUC 0.063 -&gt; 0.078; logistic C barely matters (0.084 vs 0.084)</a:t>
            </a:r>
            <a:endParaRPr lang="en-US" sz="1400" dirty="0"/>
          </a:p>
        </p:txBody>
      </p:sp>
      <p:pic>
        <p:nvPicPr>
          <p:cNvPr id="6" name="Image 0" descr="outputs/tu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606040"/>
            <a:ext cx="822960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8229600" cy="2194560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188720"/>
            <a:ext cx="78638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-m src.train --data synthetic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-m src.demo --random 6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-m src.demo --loan examples/loan.json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(credit 770, loan rate 7.0% vs market 4.5%, UPB 60k, age 48)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Shows: score, tuned threshold, predicted vs actual on held-out test loan-months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and future work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005840"/>
            <a:ext cx="46634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Prepayment recast as loan-level classification; 9 models compared fairly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PR-AUC: Logistic (L1); best F1: GDA (Linear)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Imbalance-aware metrics + validation-tuned thresholds give honest comparison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Future: time-based validation, ensemble of models, pool-level baseline</a:t>
            </a:r>
            <a:endParaRPr lang="en-US" sz="1600" dirty="0"/>
          </a:p>
        </p:txBody>
      </p:sp>
      <p:pic>
        <p:nvPicPr>
          <p:cNvPr id="6" name="Image 0" descr="outputs/best_confus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960120"/>
            <a:ext cx="3566160" cy="305409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57200" y="406908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- Questions?</a:t>
            </a:r>
            <a:endParaRPr lang="en-US" sz="200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45262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Reference: C. Guo, J. Boccio, C. Cameron, "Predicting Mortgage Backed Securities Prepayment Using Machine Learning Methods", CS229 project report, Stanford University, 2021. cs229.stanford.edu/proj2021spr/report2/81995903.pdf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MBS Prepayment Prediction</dc:title>
  <dc:subject>PptxGenJS Presentation</dc:subject>
  <dc:creator>PptxGenJS</dc:creator>
  <cp:lastModifiedBy>PptxGenJS</cp:lastModifiedBy>
  <cp:revision>1</cp:revision>
  <dcterms:created xsi:type="dcterms:W3CDTF">2026-10-12T12:44:57Z</dcterms:created>
  <dcterms:modified xsi:type="dcterms:W3CDTF">2026-10-12T12:44:57Z</dcterms:modified>
</cp:coreProperties>
</file>